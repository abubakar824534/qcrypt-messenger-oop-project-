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58" r:id="rId6"/>
    <p:sldId id="261" r:id="rId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useoModerno" panose="020B0604020202020204" charset="0"/>
      <p:regular r:id="rId17"/>
      <p:bold r:id="rId18"/>
      <p:italic r:id="rId19"/>
      <p:boldItalic r:id="rId20"/>
    </p:embeddedFont>
    <p:embeddedFont>
      <p:font typeface="Source Sans 3" panose="020B0503030403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16" y="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Welcome everyone. Today I'm presenting QCrypt, a Classical and Quantum Cryptography Engine.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• This is an Object-Oriented C++ project I've developed for my Object Oriented Programming course.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• QCrypt combines two main components: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Five classical cipher implementations (traditional encryption methods)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A BB84 quantum key distribution layer (a quantum cryptography protocol)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• The engine is built with three key principles in mind: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Modularity: Each component is independent and reusable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Testability: Designed to be thoroughly tested and verified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Educational clarity: Clear structure for learning OOP concepts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• This project demonstrates practical application of OOP principles like inheritance, polymorphism, and encapsulation in a real cryptography context.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38" name="Google Shape;3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</a:t>
            </a:r>
            <a:r>
              <a:rPr lang="en-US" dirty="0" err="1"/>
              <a:t>QCrypt</a:t>
            </a:r>
            <a:r>
              <a:rPr lang="en-US" dirty="0"/>
              <a:t> is a C++ engine built with object-oriented design principles • Implements six cipher algorithms total: Caesar, ROT13, Vigenère, XOR, RSA, and BB84 • All components are modular and reusable classes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Architecture highlights: • 22 classes organized with 7 abstract base classes • Maximum inheritance depth of 3 levels—keeps it clean and maintainable • Follows Single Responsibility Principle, making each component testable and focused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Three main layers: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Cipher primitives – the six classical and quantum algorithms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Crypto manager – orchestrates cipher operations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Math utilities &amp; quantum channel – supports calculations and QKD simulation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Quantum component: • BB84 quantum key distribution protocol fully simulated • Demonstrates basis sampling and public reconciliation • Built-in eavesdrop detection through error-rate monitoring • Perfect for teaching quantum cryptography concepts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whole system is designed as a teaching tool—students can see classical cryptography, understand quantum principles, and observe security vulnerabilities in action.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51" name="Google Shape;5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96119" y="1183556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"/>
              <a:buNone/>
            </a:pPr>
            <a:r>
              <a:rPr lang="en-US" sz="275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QCrypt</a:t>
            </a:r>
            <a:endParaRPr sz="2750" b="0" i="0" u="none" strike="noStrike" cap="none"/>
          </a:p>
        </p:txBody>
      </p:sp>
      <p:sp>
        <p:nvSpPr>
          <p:cNvPr id="41" name="Google Shape;41;p9"/>
          <p:cNvSpPr/>
          <p:nvPr/>
        </p:nvSpPr>
        <p:spPr>
          <a:xfrm>
            <a:off x="496119" y="1683246"/>
            <a:ext cx="361778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Classical &amp; Quantum Cryptography Engine</a:t>
            </a:r>
            <a:endParaRPr sz="1350" b="0" i="0" u="none" strike="noStrike" cap="none"/>
          </a:p>
        </p:txBody>
      </p:sp>
      <p:sp>
        <p:nvSpPr>
          <p:cNvPr id="42" name="Google Shape;42;p9"/>
          <p:cNvSpPr/>
          <p:nvPr/>
        </p:nvSpPr>
        <p:spPr>
          <a:xfrm>
            <a:off x="496119" y="2117303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C9D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877" y="2322835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/>
          <p:nvPr/>
        </p:nvSpPr>
        <p:spPr>
          <a:xfrm>
            <a:off x="956816" y="2294483"/>
            <a:ext cx="7549307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OOP C++ PROJECT</a:t>
            </a:r>
            <a:endParaRPr sz="1100" b="0" i="0" u="none" strike="noStrike" cap="none"/>
          </a:p>
        </p:txBody>
      </p:sp>
      <p:sp>
        <p:nvSpPr>
          <p:cNvPr id="45" name="Google Shape;45;p9"/>
          <p:cNvSpPr/>
          <p:nvPr/>
        </p:nvSpPr>
        <p:spPr>
          <a:xfrm>
            <a:off x="496119" y="2879154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QCrypt is a C++ object‑oriented engine combining five classical cipher implementations with a BB84 quantum key distribution layer. Designed for modularity, testability and educational clarity in an undergraduate OOP context.</a:t>
            </a:r>
            <a:endParaRPr sz="1100" b="0" i="0" u="none" strike="noStrike" cap="none"/>
          </a:p>
        </p:txBody>
      </p:sp>
      <p:sp>
        <p:nvSpPr>
          <p:cNvPr id="46" name="Google Shape;46;p9"/>
          <p:cNvSpPr/>
          <p:nvPr/>
        </p:nvSpPr>
        <p:spPr>
          <a:xfrm>
            <a:off x="496119" y="3527673"/>
            <a:ext cx="8151763" cy="10567"/>
          </a:xfrm>
          <a:prstGeom prst="rect">
            <a:avLst/>
          </a:prstGeom>
          <a:solidFill>
            <a:srgbClr val="2B415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496119" y="3733130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dirty="0" smtClean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Name:</a:t>
            </a:r>
            <a:r>
              <a:rPr lang="en-US" sz="1100" b="0" i="0" u="none" strike="noStrike" cap="none" dirty="0" smtClean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100" b="0" i="0" u="none" strike="noStrike" cap="none" dirty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M.AbuBakar · Roll No: BSCS25109 · Course: Object Oriented Programming</a:t>
            </a:r>
            <a:endParaRPr sz="1100" b="0" i="0" u="none" strike="noStrike" cap="non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944" y="4613888"/>
            <a:ext cx="2010056" cy="466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>
          <a:xfrm>
            <a:off x="496119" y="1068214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"/>
              <a:buNone/>
            </a:pPr>
            <a:r>
              <a:rPr lang="en-US" sz="275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Project Overview</a:t>
            </a:r>
            <a:endParaRPr sz="2750" b="0" i="0" u="none" strike="noStrike" cap="none"/>
          </a:p>
        </p:txBody>
      </p:sp>
      <p:sp>
        <p:nvSpPr>
          <p:cNvPr id="54" name="Google Shape;54;p10"/>
          <p:cNvSpPr/>
          <p:nvPr/>
        </p:nvSpPr>
        <p:spPr>
          <a:xfrm>
            <a:off x="496119" y="1794718"/>
            <a:ext cx="815176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QCrypt is an OOP C++ engine that implements five classical ciphers and a BB84 quantum protocol as modular components. The system is packaged as a set of reusable classes: cipher primitives, a crypto manager, math utilities and a simulated quantum channel for teaching QKD concepts and eavesdrop detection.</a:t>
            </a:r>
            <a:endParaRPr sz="1100" b="0" i="0" u="none" strike="noStrike" cap="none"/>
          </a:p>
        </p:txBody>
      </p:sp>
      <p:pic>
        <p:nvPicPr>
          <p:cNvPr id="55" name="Google Shape;5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2634630"/>
            <a:ext cx="753740" cy="94215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/>
          <p:nvPr/>
        </p:nvSpPr>
        <p:spPr>
          <a:xfrm>
            <a:off x="1427038" y="2634630"/>
            <a:ext cx="1668214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6 Cipher Algorithms</a:t>
            </a:r>
            <a:endParaRPr sz="1350" b="0" i="0" u="none" strike="noStrike" cap="none"/>
          </a:p>
        </p:txBody>
      </p:sp>
      <p:sp>
        <p:nvSpPr>
          <p:cNvPr id="57" name="Google Shape;57;p10"/>
          <p:cNvSpPr/>
          <p:nvPr/>
        </p:nvSpPr>
        <p:spPr>
          <a:xfrm>
            <a:off x="1427038" y="3162598"/>
            <a:ext cx="166821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 dirty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Caesar · ROT13 · Vigenère · XOR · RSA · BB84</a:t>
            </a:r>
            <a:endParaRPr sz="1100" b="0" i="0" u="none" strike="noStrike" cap="none" dirty="0"/>
          </a:p>
        </p:txBody>
      </p:sp>
      <p:pic>
        <p:nvPicPr>
          <p:cNvPr id="58" name="Google Shape;58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2433" y="2634630"/>
            <a:ext cx="753740" cy="94215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>
            <a:off x="4203353" y="2634630"/>
            <a:ext cx="166821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OOP Architecture</a:t>
            </a:r>
            <a:endParaRPr sz="1350" b="0" i="0" u="none" strike="noStrike" cap="none"/>
          </a:p>
        </p:txBody>
      </p:sp>
      <p:sp>
        <p:nvSpPr>
          <p:cNvPr id="60" name="Google Shape;60;p10"/>
          <p:cNvSpPr/>
          <p:nvPr/>
        </p:nvSpPr>
        <p:spPr>
          <a:xfrm>
            <a:off x="4203353" y="2941141"/>
            <a:ext cx="1668214" cy="113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 dirty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22 classes total, 7 abstract </a:t>
            </a:r>
            <a:r>
              <a:rPr lang="en-US" sz="1100" b="0" i="0" u="none" strike="noStrike" cap="none" dirty="0" smtClean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bases. Testable </a:t>
            </a:r>
            <a:r>
              <a:rPr lang="en-US" sz="1100" b="0" i="0" u="none" strike="noStrike" cap="none" dirty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components.</a:t>
            </a:r>
            <a:endParaRPr sz="1100" b="0" i="0" u="none" strike="noStrike" cap="none" dirty="0"/>
          </a:p>
        </p:txBody>
      </p:sp>
      <p:pic>
        <p:nvPicPr>
          <p:cNvPr id="61" name="Google Shape;61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8747" y="2634630"/>
            <a:ext cx="753740" cy="94215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0"/>
          <p:cNvSpPr/>
          <p:nvPr/>
        </p:nvSpPr>
        <p:spPr>
          <a:xfrm>
            <a:off x="6979667" y="2634630"/>
            <a:ext cx="166821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Quantum Layer</a:t>
            </a:r>
            <a:endParaRPr sz="1350" b="0" i="0" u="none" strike="noStrike" cap="none"/>
          </a:p>
        </p:txBody>
      </p:sp>
      <p:sp>
        <p:nvSpPr>
          <p:cNvPr id="63" name="Google Shape;63;p10"/>
          <p:cNvSpPr/>
          <p:nvPr/>
        </p:nvSpPr>
        <p:spPr>
          <a:xfrm>
            <a:off x="6979667" y="2941141"/>
            <a:ext cx="1668214" cy="113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BB84 QKD simulation with basis sampling, public reconciliation, and eavesdrop detection via error-rate monitoring.</a:t>
            </a:r>
            <a:endParaRPr sz="1100" b="0" i="0" u="none" strike="noStrike" cap="non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944" y="4599925"/>
            <a:ext cx="2010056" cy="466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>
            <a:off x="598066" y="348035"/>
            <a:ext cx="2879601" cy="3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250"/>
              <a:buFont typeface="MuseoModerno"/>
              <a:buNone/>
            </a:pPr>
            <a:r>
              <a:rPr lang="en-US" sz="225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Cipher Algorithms</a:t>
            </a:r>
            <a:endParaRPr sz="2250" b="0" i="0" u="none" strike="noStrike" cap="none"/>
          </a:p>
        </p:txBody>
      </p:sp>
      <p:pic>
        <p:nvPicPr>
          <p:cNvPr id="88" name="Google Shape;8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066" y="895127"/>
            <a:ext cx="835596" cy="83559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/>
          <p:nvPr/>
        </p:nvSpPr>
        <p:spPr>
          <a:xfrm>
            <a:off x="598066" y="1847701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Caesar</a:t>
            </a:r>
            <a:endParaRPr sz="1100" b="0" i="0" u="none" strike="noStrike" cap="none"/>
          </a:p>
        </p:txBody>
      </p:sp>
      <p:sp>
        <p:nvSpPr>
          <p:cNvPr id="90" name="Google Shape;90;p12"/>
          <p:cNvSpPr/>
          <p:nvPr/>
        </p:nvSpPr>
        <p:spPr>
          <a:xfrm>
            <a:off x="598066" y="2083743"/>
            <a:ext cx="1899196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900"/>
              <a:buFont typeface="Source Sans 3"/>
              <a:buNone/>
            </a:pP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Type: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Substitution · </a:t>
            </a: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shift = 7 · </a:t>
            </a:r>
            <a:r>
              <a:rPr lang="en-US" sz="900" b="0" i="1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Formula: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 = (M + key) mod 26</a:t>
            </a:r>
            <a:endParaRPr sz="900" b="0" i="0" u="none" strike="noStrike" cap="none"/>
          </a:p>
        </p:txBody>
      </p:sp>
      <p:pic>
        <p:nvPicPr>
          <p:cNvPr id="91" name="Google Shape;91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4240" y="895127"/>
            <a:ext cx="835596" cy="83559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/>
          <p:nvPr/>
        </p:nvSpPr>
        <p:spPr>
          <a:xfrm>
            <a:off x="2614240" y="1847701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ROT13</a:t>
            </a:r>
            <a:endParaRPr sz="1100" b="0" i="0" u="none" strike="noStrike" cap="none"/>
          </a:p>
        </p:txBody>
      </p:sp>
      <p:sp>
        <p:nvSpPr>
          <p:cNvPr id="93" name="Google Shape;93;p12"/>
          <p:cNvSpPr/>
          <p:nvPr/>
        </p:nvSpPr>
        <p:spPr>
          <a:xfrm>
            <a:off x="2614240" y="2083743"/>
            <a:ext cx="1899196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900"/>
              <a:buFont typeface="Source Sans 3"/>
              <a:buNone/>
            </a:pP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Type: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Substitution · </a:t>
            </a: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shift = 13 · </a:t>
            </a:r>
            <a:r>
              <a:rPr lang="en-US" sz="900" b="0" i="1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Formula: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Self‑inverse: encode = decode</a:t>
            </a:r>
            <a:endParaRPr sz="900" b="0" i="0" u="none" strike="noStrike" cap="none"/>
          </a:p>
        </p:txBody>
      </p:sp>
      <p:pic>
        <p:nvPicPr>
          <p:cNvPr id="94" name="Google Shape;94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30415" y="895127"/>
            <a:ext cx="835596" cy="83559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2"/>
          <p:cNvSpPr/>
          <p:nvPr/>
        </p:nvSpPr>
        <p:spPr>
          <a:xfrm>
            <a:off x="4630415" y="1847701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"/>
              <a:buNone/>
            </a:pPr>
            <a:r>
              <a:rPr lang="en-US" sz="1100" b="0" i="0" u="none" strike="noStrike" cap="none" dirty="0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Vigenère</a:t>
            </a:r>
            <a:endParaRPr sz="1100" b="0" i="0" u="none" strike="noStrike" cap="none" dirty="0"/>
          </a:p>
        </p:txBody>
      </p:sp>
      <p:sp>
        <p:nvSpPr>
          <p:cNvPr id="96" name="Google Shape;96;p12"/>
          <p:cNvSpPr/>
          <p:nvPr/>
        </p:nvSpPr>
        <p:spPr>
          <a:xfrm>
            <a:off x="4630415" y="2083743"/>
            <a:ext cx="1899196" cy="50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900"/>
              <a:buFont typeface="Source Sans 3"/>
              <a:buNone/>
            </a:pP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Type: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Polyalphabetic · </a:t>
            </a: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keyword · </a:t>
            </a:r>
            <a:r>
              <a:rPr lang="en-US" sz="900" b="0" i="1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Formula: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 = (M + Kᵢ) mod 26 per character</a:t>
            </a:r>
            <a:endParaRPr sz="900" b="0" i="0" u="none" strike="noStrike" cap="none"/>
          </a:p>
        </p:txBody>
      </p:sp>
      <p:pic>
        <p:nvPicPr>
          <p:cNvPr id="97" name="Google Shape;97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6590" y="895127"/>
            <a:ext cx="835670" cy="83567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/>
          <p:nvPr/>
        </p:nvSpPr>
        <p:spPr>
          <a:xfrm>
            <a:off x="6646590" y="1847776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XOR</a:t>
            </a:r>
            <a:endParaRPr sz="1100" b="0" i="0" u="none" strike="noStrike" cap="none"/>
          </a:p>
        </p:txBody>
      </p:sp>
      <p:sp>
        <p:nvSpPr>
          <p:cNvPr id="99" name="Google Shape;99;p12"/>
          <p:cNvSpPr/>
          <p:nvPr/>
        </p:nvSpPr>
        <p:spPr>
          <a:xfrm>
            <a:off x="6646590" y="2083817"/>
            <a:ext cx="1899270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900"/>
              <a:buFont typeface="Source Sans 3"/>
              <a:buNone/>
            </a:pP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Type: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Bitwise · </a:t>
            </a: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byte key · </a:t>
            </a:r>
            <a:r>
              <a:rPr lang="en-US" sz="900" b="0" i="1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Formula: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 = M XOR k (self‑inverse)</a:t>
            </a:r>
            <a:endParaRPr sz="900" b="0" i="0" u="none" strike="noStrike" cap="none"/>
          </a:p>
        </p:txBody>
      </p:sp>
      <p:pic>
        <p:nvPicPr>
          <p:cNvPr id="100" name="Google Shape;100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8066" y="2771849"/>
            <a:ext cx="835596" cy="835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598066" y="3724424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RSA</a:t>
            </a:r>
            <a:endParaRPr sz="1100" b="0" i="0" u="none" strike="noStrike" cap="none"/>
          </a:p>
        </p:txBody>
      </p:sp>
      <p:sp>
        <p:nvSpPr>
          <p:cNvPr id="102" name="Google Shape;102;p12"/>
          <p:cNvSpPr/>
          <p:nvPr/>
        </p:nvSpPr>
        <p:spPr>
          <a:xfrm>
            <a:off x="598066" y="3960465"/>
            <a:ext cx="1899196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900"/>
              <a:buFont typeface="Source Sans 3"/>
              <a:buNone/>
            </a:pP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Type: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Asymmetric · </a:t>
            </a: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(e, d, n) · </a:t>
            </a:r>
            <a:r>
              <a:rPr lang="en-US" sz="900" b="0" i="1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Formula: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 = Mᵉ mod n</a:t>
            </a:r>
            <a:endParaRPr sz="900" b="0" i="0" u="none" strike="noStrike" cap="none"/>
          </a:p>
        </p:txBody>
      </p:sp>
      <p:pic>
        <p:nvPicPr>
          <p:cNvPr id="103" name="Google Shape;103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14240" y="2771849"/>
            <a:ext cx="835596" cy="8355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/>
          <p:nvPr/>
        </p:nvSpPr>
        <p:spPr>
          <a:xfrm>
            <a:off x="2614240" y="3724424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MuseoModerno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BB84</a:t>
            </a:r>
            <a:endParaRPr sz="1100" b="0" i="0" u="none" strike="noStrike" cap="none"/>
          </a:p>
        </p:txBody>
      </p:sp>
      <p:sp>
        <p:nvSpPr>
          <p:cNvPr id="105" name="Google Shape;105;p12"/>
          <p:cNvSpPr/>
          <p:nvPr/>
        </p:nvSpPr>
        <p:spPr>
          <a:xfrm>
            <a:off x="2614240" y="3960465"/>
            <a:ext cx="1899196" cy="834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900"/>
              <a:buFont typeface="Source Sans 3"/>
              <a:buNone/>
            </a:pP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Type: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Quantum QKD · </a:t>
            </a:r>
            <a:r>
              <a:rPr lang="en-US" sz="900" b="1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photon polarization · </a:t>
            </a:r>
            <a:r>
              <a:rPr lang="en-US" sz="900" b="0" i="1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Note:</a:t>
            </a:r>
            <a:r>
              <a:rPr lang="en-US" sz="9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Heisenberg uncertainty underpins measurement disturbance + XOR for symmetric encryption step.</a:t>
            </a:r>
            <a:endParaRPr sz="900" b="0" i="0" u="none" strike="noStrike" cap="non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4425" y="4664791"/>
            <a:ext cx="2010056" cy="466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/>
          <p:nvPr/>
        </p:nvSpPr>
        <p:spPr>
          <a:xfrm>
            <a:off x="674489" y="358229"/>
            <a:ext cx="4795763" cy="35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200"/>
              <a:buFont typeface="MuseoModerno"/>
              <a:buNone/>
            </a:pPr>
            <a:r>
              <a:rPr lang="en-US" sz="220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BB84 — Quantum Key Distribution</a:t>
            </a:r>
            <a:endParaRPr sz="2200" b="0" i="0" u="none" strike="noStrike" cap="none"/>
          </a:p>
        </p:txBody>
      </p:sp>
      <p:sp>
        <p:nvSpPr>
          <p:cNvPr id="112" name="Google Shape;112;p13"/>
          <p:cNvSpPr/>
          <p:nvPr/>
        </p:nvSpPr>
        <p:spPr>
          <a:xfrm>
            <a:off x="674489" y="891183"/>
            <a:ext cx="7794947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50"/>
              <a:buFont typeface="Source Sans 3"/>
              <a:buNone/>
            </a:pPr>
            <a:r>
              <a:rPr lang="en-US" sz="850" b="0" i="1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Heisenberg Uncertainty Principle: measurement in the wrong basis perturbs quantum states and reveals eavesdropping.</a:t>
            </a:r>
            <a:endParaRPr sz="850" b="0" i="0" u="none" strike="noStrike" cap="none"/>
          </a:p>
        </p:txBody>
      </p:sp>
      <p:pic>
        <p:nvPicPr>
          <p:cNvPr id="113" name="Google Shape;11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489" y="1154757"/>
            <a:ext cx="7794947" cy="336693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/>
          <p:nvPr/>
        </p:nvSpPr>
        <p:spPr>
          <a:xfrm>
            <a:off x="2534591" y="3432218"/>
            <a:ext cx="1157395" cy="42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MuseoModerno"/>
              <a:buNone/>
            </a:pPr>
            <a:r>
              <a:rPr lang="en-US" sz="13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Bob Measures</a:t>
            </a:r>
            <a:endParaRPr sz="1300" b="0" i="0" u="none" strike="noStrike" cap="none"/>
          </a:p>
        </p:txBody>
      </p:sp>
      <p:sp>
        <p:nvSpPr>
          <p:cNvPr id="115" name="Google Shape;115;p13"/>
          <p:cNvSpPr/>
          <p:nvPr/>
        </p:nvSpPr>
        <p:spPr>
          <a:xfrm>
            <a:off x="2534591" y="3913773"/>
            <a:ext cx="1157395" cy="30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lang="en-US" sz="105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random bases for each photon</a:t>
            </a:r>
            <a:endParaRPr sz="1050" b="0" i="0" u="none" strike="noStrike" cap="none"/>
          </a:p>
        </p:txBody>
      </p:sp>
      <p:sp>
        <p:nvSpPr>
          <p:cNvPr id="116" name="Google Shape;116;p13"/>
          <p:cNvSpPr/>
          <p:nvPr/>
        </p:nvSpPr>
        <p:spPr>
          <a:xfrm>
            <a:off x="5506484" y="3643015"/>
            <a:ext cx="1157394" cy="21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00"/>
              <a:buFont typeface="MuseoModerno"/>
              <a:buNone/>
            </a:pPr>
            <a:r>
              <a:rPr lang="en-US" sz="130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Error Check</a:t>
            </a:r>
            <a:endParaRPr sz="1300" b="0" i="0" u="none" strike="noStrike" cap="none"/>
          </a:p>
        </p:txBody>
      </p:sp>
      <p:sp>
        <p:nvSpPr>
          <p:cNvPr id="117" name="Google Shape;117;p13"/>
          <p:cNvSpPr/>
          <p:nvPr/>
        </p:nvSpPr>
        <p:spPr>
          <a:xfrm>
            <a:off x="5506484" y="3913773"/>
            <a:ext cx="1157394" cy="30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lang="en-US" sz="105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Estimate error rate; abort if &gt;20%</a:t>
            </a:r>
            <a:endParaRPr sz="1050" b="0" i="0" u="none" strike="noStrike" cap="none"/>
          </a:p>
        </p:txBody>
      </p:sp>
      <p:sp>
        <p:nvSpPr>
          <p:cNvPr id="118" name="Google Shape;118;p13"/>
          <p:cNvSpPr/>
          <p:nvPr/>
        </p:nvSpPr>
        <p:spPr>
          <a:xfrm>
            <a:off x="1052334" y="1458569"/>
            <a:ext cx="1157395" cy="21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MuseoModerno"/>
              <a:buNone/>
            </a:pPr>
            <a:r>
              <a:rPr lang="en-US" sz="13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Alice Sends</a:t>
            </a:r>
            <a:endParaRPr sz="1300" b="0" i="0" u="none" strike="noStrike" cap="none"/>
          </a:p>
        </p:txBody>
      </p:sp>
      <p:sp>
        <p:nvSpPr>
          <p:cNvPr id="119" name="Google Shape;119;p13"/>
          <p:cNvSpPr/>
          <p:nvPr/>
        </p:nvSpPr>
        <p:spPr>
          <a:xfrm>
            <a:off x="1052334" y="1729326"/>
            <a:ext cx="1157395" cy="45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lang="en-US" sz="105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Random bits encoded in random bases</a:t>
            </a:r>
            <a:endParaRPr sz="1050" b="0" i="0" u="none" strike="noStrike" cap="none"/>
          </a:p>
        </p:txBody>
      </p:sp>
      <p:sp>
        <p:nvSpPr>
          <p:cNvPr id="120" name="Google Shape;120;p13"/>
          <p:cNvSpPr/>
          <p:nvPr/>
        </p:nvSpPr>
        <p:spPr>
          <a:xfrm>
            <a:off x="6944590" y="1458569"/>
            <a:ext cx="1157395" cy="21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MuseoModerno"/>
              <a:buNone/>
            </a:pPr>
            <a:r>
              <a:rPr lang="en-US" sz="13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Use Key</a:t>
            </a:r>
            <a:endParaRPr sz="1300" b="0" i="0" u="none" strike="noStrike" cap="none"/>
          </a:p>
        </p:txBody>
      </p:sp>
      <p:sp>
        <p:nvSpPr>
          <p:cNvPr id="121" name="Google Shape;121;p13"/>
          <p:cNvSpPr/>
          <p:nvPr/>
        </p:nvSpPr>
        <p:spPr>
          <a:xfrm>
            <a:off x="6944590" y="1729326"/>
            <a:ext cx="1157395" cy="30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lang="en-US" sz="105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Shared key used for XOR encryption</a:t>
            </a:r>
            <a:endParaRPr sz="1050" b="0" i="0" u="none" strike="noStrike" cap="none"/>
          </a:p>
        </p:txBody>
      </p:sp>
      <p:sp>
        <p:nvSpPr>
          <p:cNvPr id="122" name="Google Shape;122;p13"/>
          <p:cNvSpPr/>
          <p:nvPr/>
        </p:nvSpPr>
        <p:spPr>
          <a:xfrm>
            <a:off x="4038982" y="1458569"/>
            <a:ext cx="1157395" cy="42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300"/>
              <a:buFont typeface="MuseoModerno"/>
              <a:buNone/>
            </a:pPr>
            <a:r>
              <a:rPr lang="en-US" sz="130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Compare Bases</a:t>
            </a:r>
            <a:endParaRPr sz="1300" b="0" i="0" u="none" strike="noStrike" cap="none"/>
          </a:p>
        </p:txBody>
      </p:sp>
      <p:sp>
        <p:nvSpPr>
          <p:cNvPr id="123" name="Google Shape;123;p13"/>
          <p:cNvSpPr/>
          <p:nvPr/>
        </p:nvSpPr>
        <p:spPr>
          <a:xfrm>
            <a:off x="4038982" y="1940124"/>
            <a:ext cx="1157395" cy="30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50"/>
              <a:buFont typeface="Source Sans 3"/>
              <a:buNone/>
            </a:pPr>
            <a:r>
              <a:rPr lang="en-US" sz="105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Keep bits where bases match</a:t>
            </a:r>
            <a:endParaRPr sz="1050" b="0" i="0" u="none" strike="noStrike" cap="none"/>
          </a:p>
        </p:txBody>
      </p:sp>
      <p:sp>
        <p:nvSpPr>
          <p:cNvPr id="124" name="Google Shape;124;p13"/>
          <p:cNvSpPr/>
          <p:nvPr/>
        </p:nvSpPr>
        <p:spPr>
          <a:xfrm>
            <a:off x="674489" y="4622899"/>
            <a:ext cx="7794947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Steps 1–6 are the QKD exchange and verification. Step 7 (mint highlight) applies the derived shared key for symmetric XOR encryption of classical payloads.</a:t>
            </a:r>
            <a:endParaRPr sz="850" b="0" i="0" u="none" strike="noStrike" cap="non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068" y="4757387"/>
            <a:ext cx="1430931" cy="332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496119" y="686395"/>
            <a:ext cx="4873154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"/>
              <a:buNone/>
            </a:pPr>
            <a:r>
              <a:rPr lang="en-US" sz="275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OOP Concepts Implemented</a:t>
            </a:r>
            <a:endParaRPr sz="2750" b="0" i="0" u="none" strike="noStrike" cap="none"/>
          </a:p>
        </p:txBody>
      </p:sp>
      <p:sp>
        <p:nvSpPr>
          <p:cNvPr id="70" name="Google Shape;70;p11"/>
          <p:cNvSpPr/>
          <p:nvPr/>
        </p:nvSpPr>
        <p:spPr>
          <a:xfrm>
            <a:off x="496119" y="1501453"/>
            <a:ext cx="3902943" cy="1327175"/>
          </a:xfrm>
          <a:prstGeom prst="roundRect">
            <a:avLst>
              <a:gd name="adj" fmla="val 1602"/>
            </a:avLst>
          </a:prstGeom>
          <a:solidFill>
            <a:srgbClr val="F3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637877" y="164321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useoModerno"/>
                <a:ea typeface="MuseoModerno"/>
                <a:cs typeface="MuseoModerno"/>
                <a:sym typeface="MuseoModerno"/>
              </a:rPr>
              <a:t>🧬</a:t>
            </a:r>
            <a:r>
              <a:rPr lang="en-US" sz="135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 Inheritance</a:t>
            </a:r>
            <a:endParaRPr sz="1350" b="0" i="0" u="none" strike="noStrike" cap="none"/>
          </a:p>
        </p:txBody>
      </p:sp>
      <p:sp>
        <p:nvSpPr>
          <p:cNvPr id="72" name="Google Shape;72;p11"/>
          <p:cNvSpPr/>
          <p:nvPr/>
        </p:nvSpPr>
        <p:spPr>
          <a:xfrm>
            <a:off x="637877" y="2006426"/>
            <a:ext cx="3619426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 dirty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Single: Caesar → SubstitutionCipher. Multi‑level: BB84 → QuantumCipher → Cipher. Hierarchical reuse: Caesar &amp; ROT13 inherit SubstitutionCipher.</a:t>
            </a:r>
            <a:endParaRPr sz="1100" b="0" i="0" u="none" strike="noStrike" cap="none" dirty="0"/>
          </a:p>
        </p:txBody>
      </p:sp>
      <p:sp>
        <p:nvSpPr>
          <p:cNvPr id="73" name="Google Shape;73;p11"/>
          <p:cNvSpPr/>
          <p:nvPr/>
        </p:nvSpPr>
        <p:spPr>
          <a:xfrm>
            <a:off x="496119" y="2970386"/>
            <a:ext cx="3902943" cy="1327175"/>
          </a:xfrm>
          <a:prstGeom prst="roundRect">
            <a:avLst>
              <a:gd name="adj" fmla="val 1602"/>
            </a:avLst>
          </a:prstGeom>
          <a:solidFill>
            <a:srgbClr val="F3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637877" y="311214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useoModerno"/>
                <a:ea typeface="MuseoModerno"/>
                <a:cs typeface="MuseoModerno"/>
                <a:sym typeface="MuseoModerno"/>
              </a:rPr>
              <a:t>🔄</a:t>
            </a:r>
            <a:r>
              <a:rPr lang="en-US" sz="135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 Polymorphism</a:t>
            </a:r>
            <a:endParaRPr sz="1350" b="0" i="0" u="none" strike="noStrike" cap="none"/>
          </a:p>
        </p:txBody>
      </p:sp>
      <p:sp>
        <p:nvSpPr>
          <p:cNvPr id="75" name="Google Shape;75;p11"/>
          <p:cNvSpPr/>
          <p:nvPr/>
        </p:nvSpPr>
        <p:spPr>
          <a:xfrm>
            <a:off x="637877" y="3475360"/>
            <a:ext cx="3619426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Pure virtual encrypt/decrypt/showInfo methods; runtime dispatch via Cipher* pointers. Virtual destructors ensure safe cleanup.</a:t>
            </a:r>
            <a:endParaRPr sz="1100" b="0" i="0" u="none" strike="noStrike" cap="none"/>
          </a:p>
        </p:txBody>
      </p:sp>
      <p:sp>
        <p:nvSpPr>
          <p:cNvPr id="76" name="Google Shape;76;p11"/>
          <p:cNvSpPr/>
          <p:nvPr/>
        </p:nvSpPr>
        <p:spPr>
          <a:xfrm>
            <a:off x="4749701" y="1501453"/>
            <a:ext cx="3902943" cy="1327175"/>
          </a:xfrm>
          <a:prstGeom prst="roundRect">
            <a:avLst>
              <a:gd name="adj" fmla="val 1602"/>
            </a:avLst>
          </a:prstGeom>
          <a:solidFill>
            <a:srgbClr val="F3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4891460" y="164321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useoModerno"/>
                <a:ea typeface="MuseoModerno"/>
                <a:cs typeface="MuseoModerno"/>
                <a:sym typeface="MuseoModerno"/>
              </a:rPr>
              <a:t>🔒</a:t>
            </a:r>
            <a:r>
              <a:rPr lang="en-US" sz="135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 Encapsulation</a:t>
            </a:r>
            <a:endParaRPr sz="1350" b="0" i="0" u="none" strike="noStrike" cap="none"/>
          </a:p>
        </p:txBody>
      </p:sp>
      <p:sp>
        <p:nvSpPr>
          <p:cNvPr id="78" name="Google Shape;78;p11"/>
          <p:cNvSpPr/>
          <p:nvPr/>
        </p:nvSpPr>
        <p:spPr>
          <a:xfrm>
            <a:off x="4891460" y="2006426"/>
            <a:ext cx="3619426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Keys and internal state are private/protected. Public APIs expose only necessary operations; CryptoManager interacts through narrow interfaces.</a:t>
            </a:r>
            <a:endParaRPr sz="1100" b="0" i="0" u="none" strike="noStrike" cap="none"/>
          </a:p>
        </p:txBody>
      </p:sp>
      <p:sp>
        <p:nvSpPr>
          <p:cNvPr id="79" name="Google Shape;79;p11"/>
          <p:cNvSpPr/>
          <p:nvPr/>
        </p:nvSpPr>
        <p:spPr>
          <a:xfrm>
            <a:off x="4749701" y="2970386"/>
            <a:ext cx="3902943" cy="1327175"/>
          </a:xfrm>
          <a:prstGeom prst="roundRect">
            <a:avLst>
              <a:gd name="adj" fmla="val 1602"/>
            </a:avLst>
          </a:prstGeom>
          <a:solidFill>
            <a:srgbClr val="F3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4891460" y="311214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useoModerno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useoModerno"/>
                <a:ea typeface="MuseoModerno"/>
                <a:cs typeface="MuseoModerno"/>
                <a:sym typeface="MuseoModerno"/>
              </a:rPr>
              <a:t>🏗️</a:t>
            </a:r>
            <a:r>
              <a:rPr lang="en-US" sz="135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 Abstraction</a:t>
            </a:r>
            <a:endParaRPr sz="1350" b="0" i="0" u="none" strike="noStrike" cap="none"/>
          </a:p>
        </p:txBody>
      </p:sp>
      <p:sp>
        <p:nvSpPr>
          <p:cNvPr id="81" name="Google Shape;81;p11"/>
          <p:cNvSpPr/>
          <p:nvPr/>
        </p:nvSpPr>
        <p:spPr>
          <a:xfrm>
            <a:off x="4891460" y="3475360"/>
            <a:ext cx="3619426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 b="0" i="0" u="none" strike="noStrike" cap="none" dirty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Seven abstract base classes (Cipher, MathEngine, KeyGenerator, Basis, QuantumChannel, Party, </a:t>
            </a:r>
            <a:r>
              <a:rPr lang="en-US" sz="1100" b="0" i="0" u="none" strike="noStrike" cap="none" dirty="0" err="1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CryptoManager</a:t>
            </a:r>
            <a:r>
              <a:rPr lang="en-US" sz="1100" b="0" i="0" u="none" strike="noStrike" cap="none" dirty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) define contracts as pure virtual interfaces.</a:t>
            </a:r>
            <a:endParaRPr sz="1100" b="0" i="0" u="none" strike="noStrike" cap="non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/>
          <p:nvPr/>
        </p:nvSpPr>
        <p:spPr>
          <a:xfrm>
            <a:off x="1056605" y="288206"/>
            <a:ext cx="4287962" cy="31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000"/>
              <a:buFont typeface="MuseoModerno"/>
              <a:buNone/>
            </a:pPr>
            <a:r>
              <a:rPr lang="en-US" sz="2000" b="0" i="0" u="none" strike="noStrike" cap="none">
                <a:solidFill>
                  <a:srgbClr val="124E73"/>
                </a:solidFill>
                <a:latin typeface="MuseoModerno"/>
                <a:ea typeface="MuseoModerno"/>
                <a:cs typeface="MuseoModerno"/>
                <a:sym typeface="MuseoModerno"/>
              </a:rPr>
              <a:t>Class Hierarchy &amp; Project Summary</a:t>
            </a:r>
            <a:endParaRPr sz="2000" b="0" i="0" u="none" strike="noStrike" cap="none"/>
          </a:p>
        </p:txBody>
      </p:sp>
      <p:sp>
        <p:nvSpPr>
          <p:cNvPr id="131" name="Google Shape;131;p14"/>
          <p:cNvSpPr/>
          <p:nvPr/>
        </p:nvSpPr>
        <p:spPr>
          <a:xfrm>
            <a:off x="1056605" y="798761"/>
            <a:ext cx="4118967" cy="2724596"/>
          </a:xfrm>
          <a:prstGeom prst="roundRect">
            <a:avLst>
              <a:gd name="adj" fmla="val 561"/>
            </a:avLst>
          </a:prstGeom>
          <a:solidFill>
            <a:srgbClr val="F2EF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1051545" y="798761"/>
            <a:ext cx="4129088" cy="2724596"/>
          </a:xfrm>
          <a:prstGeom prst="roundRect">
            <a:avLst>
              <a:gd name="adj" fmla="val 561"/>
            </a:avLst>
          </a:prstGeom>
          <a:solidFill>
            <a:srgbClr val="F2EF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1178868" y="900633"/>
            <a:ext cx="3874443" cy="252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Cipher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├─ SubstitutionCipher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│  ├─ Caesar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│  └─ ROT13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├─ PolyalphabeticCipher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│  └─ Vigenère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├─ </a:t>
            </a:r>
            <a:r>
              <a:rPr lang="en-US" sz="800" b="0" i="0" u="none" strike="noStrike" cap="none" dirty="0" smtClean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BitwiseCipher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│  └─ XOR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├─ AsymmetricCipher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│  └─ RSA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└─ QuantumCipher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   └─ BB84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MathEngine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KeyGenerator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Basis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QuantumChannel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Party</a:t>
            </a:r>
            <a:endParaRPr sz="800" b="0" i="0" u="none" strike="noStrike" cap="none" dirty="0"/>
          </a:p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Consolas"/>
              <a:buNone/>
            </a:pPr>
            <a:r>
              <a:rPr lang="en-US" sz="800" b="0" i="0" u="none" strike="noStrike" cap="none" dirty="0">
                <a:solidFill>
                  <a:srgbClr val="2B4150"/>
                </a:solidFill>
                <a:highlight>
                  <a:srgbClr val="F2EFE8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800" b="0" i="0" u="none" strike="noStrike" cap="none" dirty="0"/>
          </a:p>
        </p:txBody>
      </p:sp>
      <p:pic>
        <p:nvPicPr>
          <p:cNvPr id="134" name="Google Shape;13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8878" y="1010915"/>
            <a:ext cx="2180406" cy="123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/>
          <p:nvPr/>
        </p:nvSpPr>
        <p:spPr>
          <a:xfrm>
            <a:off x="5428878" y="2354238"/>
            <a:ext cx="2663130" cy="7590"/>
          </a:xfrm>
          <a:prstGeom prst="rect">
            <a:avLst/>
          </a:prstGeom>
          <a:solidFill>
            <a:srgbClr val="2B415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428878" y="2469654"/>
            <a:ext cx="2663130" cy="355476"/>
          </a:xfrm>
          <a:prstGeom prst="roundRect">
            <a:avLst>
              <a:gd name="adj" fmla="val 4300"/>
            </a:avLst>
          </a:prstGeom>
          <a:solidFill>
            <a:srgbClr val="C9D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0751" y="2607841"/>
            <a:ext cx="127322" cy="10187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/>
          <p:nvPr/>
        </p:nvSpPr>
        <p:spPr>
          <a:xfrm>
            <a:off x="5759946" y="2568327"/>
            <a:ext cx="2230189" cy="1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CryptoManager — Runtime Polymorphism in Action</a:t>
            </a:r>
            <a:endParaRPr sz="800" b="0" i="0" u="none" strike="noStrike" cap="none"/>
          </a:p>
        </p:txBody>
      </p:sp>
      <p:sp>
        <p:nvSpPr>
          <p:cNvPr id="139" name="Google Shape;139;p14"/>
          <p:cNvSpPr/>
          <p:nvPr/>
        </p:nvSpPr>
        <p:spPr>
          <a:xfrm>
            <a:off x="5428878" y="2907506"/>
            <a:ext cx="2663130" cy="4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CryptoManager demonstrates runtime dispatch: it holds Cipher* references, performs encryption/decryption without compile‑time coupling, and orchestrates BB84 when required.</a:t>
            </a:r>
            <a:endParaRPr sz="800" b="0" i="0" u="none" strike="noStrike" cap="none"/>
          </a:p>
        </p:txBody>
      </p:sp>
      <p:sp>
        <p:nvSpPr>
          <p:cNvPr id="140" name="Google Shape;140;p14"/>
          <p:cNvSpPr/>
          <p:nvPr/>
        </p:nvSpPr>
        <p:spPr>
          <a:xfrm>
            <a:off x="1056605" y="3688110"/>
            <a:ext cx="2294706" cy="546943"/>
          </a:xfrm>
          <a:prstGeom prst="roundRect">
            <a:avLst>
              <a:gd name="adj" fmla="val 2794"/>
            </a:avLst>
          </a:prstGeom>
          <a:solidFill>
            <a:srgbClr val="F3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1158478" y="3789983"/>
            <a:ext cx="1273671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MuseoModerno"/>
              <a:buNone/>
            </a:pPr>
            <a:r>
              <a:rPr lang="en-US" sz="1000" b="0" i="0" u="none" strike="noStrike" cap="none" dirty="0" smtClean="0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22</a:t>
            </a:r>
            <a:endParaRPr sz="1000" b="0" i="0" u="none" strike="noStrike" cap="none" dirty="0"/>
          </a:p>
        </p:txBody>
      </p:sp>
      <p:sp>
        <p:nvSpPr>
          <p:cNvPr id="142" name="Google Shape;142;p14"/>
          <p:cNvSpPr/>
          <p:nvPr/>
        </p:nvSpPr>
        <p:spPr>
          <a:xfrm>
            <a:off x="1158478" y="3993133"/>
            <a:ext cx="2090961" cy="1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Total Classes</a:t>
            </a:r>
            <a:endParaRPr sz="800" b="0" i="0" u="none" strike="noStrike" cap="none"/>
          </a:p>
        </p:txBody>
      </p:sp>
      <p:sp>
        <p:nvSpPr>
          <p:cNvPr id="143" name="Google Shape;143;p14"/>
          <p:cNvSpPr/>
          <p:nvPr/>
        </p:nvSpPr>
        <p:spPr>
          <a:xfrm>
            <a:off x="3424535" y="3688110"/>
            <a:ext cx="2294781" cy="546943"/>
          </a:xfrm>
          <a:prstGeom prst="roundRect">
            <a:avLst>
              <a:gd name="adj" fmla="val 2794"/>
            </a:avLst>
          </a:prstGeom>
          <a:solidFill>
            <a:srgbClr val="F3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3526408" y="3789983"/>
            <a:ext cx="1273671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MuseoModerno"/>
              <a:buNone/>
            </a:pPr>
            <a:r>
              <a:rPr lang="en-US" sz="1000" b="0" i="0" u="none" strike="noStrike" cap="none" dirty="0" smtClean="0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7</a:t>
            </a:r>
            <a:endParaRPr sz="1000" b="0" i="0" u="none" strike="noStrike" cap="none" dirty="0"/>
          </a:p>
        </p:txBody>
      </p:sp>
      <p:sp>
        <p:nvSpPr>
          <p:cNvPr id="145" name="Google Shape;145;p14"/>
          <p:cNvSpPr/>
          <p:nvPr/>
        </p:nvSpPr>
        <p:spPr>
          <a:xfrm>
            <a:off x="3526408" y="3993133"/>
            <a:ext cx="2091035" cy="1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Source Sans 3"/>
              <a:buNone/>
            </a:pPr>
            <a:r>
              <a:rPr lang="en-US" sz="800" b="0" i="0" u="none" strike="noStrike" cap="none" dirty="0" smtClean="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Abstract Classes</a:t>
            </a:r>
            <a:endParaRPr sz="800" b="0" i="0" u="none" strike="noStrike" cap="none" dirty="0"/>
          </a:p>
        </p:txBody>
      </p:sp>
      <p:sp>
        <p:nvSpPr>
          <p:cNvPr id="147" name="Google Shape;147;p14"/>
          <p:cNvSpPr/>
          <p:nvPr/>
        </p:nvSpPr>
        <p:spPr>
          <a:xfrm>
            <a:off x="5894412" y="3789983"/>
            <a:ext cx="1273671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MuseoModerno"/>
              <a:buNone/>
            </a:pPr>
            <a:endParaRPr sz="1000" b="0" i="0" u="none" strike="noStrike" cap="none" dirty="0"/>
          </a:p>
        </p:txBody>
      </p:sp>
      <p:sp>
        <p:nvSpPr>
          <p:cNvPr id="149" name="Google Shape;149;p14"/>
          <p:cNvSpPr/>
          <p:nvPr/>
        </p:nvSpPr>
        <p:spPr>
          <a:xfrm>
            <a:off x="1056605" y="4308277"/>
            <a:ext cx="7030715" cy="546943"/>
          </a:xfrm>
          <a:prstGeom prst="roundRect">
            <a:avLst>
              <a:gd name="adj" fmla="val 2794"/>
            </a:avLst>
          </a:prstGeom>
          <a:solidFill>
            <a:srgbClr val="F3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1158478" y="4410149"/>
            <a:ext cx="1273671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MuseoModerno"/>
              <a:buNone/>
            </a:pPr>
            <a:r>
              <a:rPr lang="en-US" sz="1000" b="0" i="0" u="none" strike="noStrike" cap="none">
                <a:solidFill>
                  <a:srgbClr val="2B4150"/>
                </a:solidFill>
                <a:latin typeface="MuseoModerno"/>
                <a:ea typeface="MuseoModerno"/>
                <a:cs typeface="MuseoModerno"/>
                <a:sym typeface="MuseoModerno"/>
              </a:rPr>
              <a:t>6</a:t>
            </a:r>
            <a:endParaRPr sz="1000" b="0" i="0" u="none" strike="noStrike" cap="none"/>
          </a:p>
        </p:txBody>
      </p:sp>
      <p:sp>
        <p:nvSpPr>
          <p:cNvPr id="151" name="Google Shape;151;p14"/>
          <p:cNvSpPr/>
          <p:nvPr/>
        </p:nvSpPr>
        <p:spPr>
          <a:xfrm>
            <a:off x="1158478" y="4613300"/>
            <a:ext cx="6826969" cy="1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Cipher Algorithms</a:t>
            </a:r>
            <a:endParaRPr sz="800" b="0" i="0" u="none" strike="noStrike" cap="non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447" y="4855219"/>
            <a:ext cx="1106901" cy="233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883</Words>
  <Application>Microsoft Office PowerPoint</Application>
  <PresentationFormat>On-screen Show (16:9)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Consolas</vt:lpstr>
      <vt:lpstr>Arial</vt:lpstr>
      <vt:lpstr>Calibri</vt:lpstr>
      <vt:lpstr>MuseoModerno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Abubakar</dc:creator>
  <cp:lastModifiedBy>Abubakar</cp:lastModifiedBy>
  <cp:revision>7</cp:revision>
  <dcterms:modified xsi:type="dcterms:W3CDTF">2026-05-15T17:12:02Z</dcterms:modified>
</cp:coreProperties>
</file>